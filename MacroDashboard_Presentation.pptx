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Calibri"/>
              </a:rPr>
              <a:t>DEVELOPMENT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111827"/>
                </a:solidFill>
                <a:latin typeface="Georgia"/>
              </a:rPr>
              <a:t>Macro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8892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74151"/>
                </a:solidFill>
                <a:latin typeface="Calibri"/>
              </a:rPr>
              <a:t>거시경제 지표 대시보드 개발  —  Built with Claude Code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3474720"/>
            <a:ext cx="3840480" cy="0"/>
          </a:xfrm>
          <a:prstGeom prst="ellipse">
            <a:avLst/>
          </a:prstGeom>
          <a:noFill/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749039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Calibri"/>
              </a:rPr>
              <a:t>양종호  ·  March 2026  ·  Claude Code (Sonnet 4.6)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365760"/>
            <a:ext cx="3291840" cy="6126480"/>
          </a:xfrm>
          <a:prstGeom prst="rect">
            <a:avLst/>
          </a:prstGeom>
          <a:solidFill>
            <a:srgbClr val="ED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88" y="384048"/>
            <a:ext cx="3255264" cy="608990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6291072"/>
            <a:ext cx="2423160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309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jongh0.github.io/macro-dashboard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Calibri"/>
              </a:rPr>
              <a:t>PROJECT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Georgia"/>
              </a:rPr>
              <a:t>Motivation &amp; Objective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115568"/>
            <a:ext cx="11173968" cy="0"/>
          </a:xfrm>
          <a:prstGeom prst="ellipse">
            <a:avLst/>
          </a:prstGeom>
          <a:noFill/>
          <a:ln w="7620">
            <a:solidFill>
              <a:srgbClr val="C8C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16736"/>
            <a:ext cx="3566160" cy="3154680"/>
          </a:xfrm>
          <a:prstGeom prst="rect">
            <a:avLst/>
          </a:prstGeom>
          <a:solidFill>
            <a:srgbClr val="ED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16736"/>
            <a:ext cx="35661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170432"/>
            <a:ext cx="3657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16128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536192"/>
            <a:ext cx="31546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문제 인식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93392"/>
            <a:ext cx="31546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74151"/>
                </a:solidFill>
                <a:latin typeface="Calibri"/>
              </a:rPr>
              <a:t>국내에 거시경제 지표를 한 눈에 확인할 수 있는
무료·오픈소스 대시보드가 부재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316736"/>
            <a:ext cx="3566160" cy="3154680"/>
          </a:xfrm>
          <a:prstGeom prst="rect">
            <a:avLst/>
          </a:prstGeom>
          <a:solidFill>
            <a:srgbClr val="ED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16736"/>
            <a:ext cx="35661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9432" y="1170432"/>
            <a:ext cx="3657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116128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536192"/>
            <a:ext cx="31546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목표 설정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1993392"/>
            <a:ext cx="31546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74151"/>
                </a:solidFill>
                <a:latin typeface="Calibri"/>
              </a:rPr>
              <a:t>FRED·Yahoo Finance·CNN 등 공개 데이터를 활용하여
서버 없이 브라우저에서 실행되는 로컬 대시보드 구현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1316736"/>
            <a:ext cx="3566160" cy="3154680"/>
          </a:xfrm>
          <a:prstGeom prst="rect">
            <a:avLst/>
          </a:prstGeom>
          <a:solidFill>
            <a:srgbClr val="ED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316736"/>
            <a:ext cx="35661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39911" y="1170432"/>
            <a:ext cx="3657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1" y="116128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1536192"/>
            <a:ext cx="31546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개발 방식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1993392"/>
            <a:ext cx="31546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74151"/>
                </a:solidFill>
                <a:latin typeface="Calibri"/>
              </a:rPr>
              <a:t>Claude Code (AI Coding Agent)를 활용하여
설계·구현·이터레이션 전 과정을 자연어 지시만으로 진행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364224"/>
            <a:ext cx="111739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alibri"/>
              </a:rPr>
              <a:t>Reference: en.macromicro.me  ·  FRED St. Louis Fed  ·  CNN Fear &amp; Greed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Calibri"/>
              </a:rPr>
              <a:t>DEVELOPMENT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Georgia"/>
              </a:rPr>
              <a:t>Claude Code를 활용한 개발 방식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115568"/>
            <a:ext cx="11173968" cy="0"/>
          </a:xfrm>
          <a:prstGeom prst="ellipse">
            <a:avLst/>
          </a:prstGeom>
          <a:noFill/>
          <a:ln w="7620">
            <a:solidFill>
              <a:srgbClr val="C8C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53312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11827"/>
                </a:solidFill>
                <a:latin typeface="Calibri"/>
              </a:rPr>
              <a:t>자연어 지시 기반 개발</a:t>
            </a:r>
          </a:p>
          <a:p>
            <a:r>
              <a:rPr sz="1250" b="0">
                <a:solidFill>
                  <a:srgbClr val="374151"/>
                </a:solidFill>
                <a:latin typeface="Calibri"/>
              </a:rPr>
              <a:t>별도 IDE 없이 터미널에서 직접 코드 생성·수정·디버깅 수행</a:t>
            </a:r>
          </a:p>
          <a:p>
            <a:r>
              <a:rPr sz="1250" b="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350" b="1">
                <a:solidFill>
                  <a:srgbClr val="111827"/>
                </a:solidFill>
                <a:latin typeface="Calibri"/>
              </a:rPr>
              <a:t>멀티 에이전트 활용</a:t>
            </a:r>
          </a:p>
          <a:p>
            <a:r>
              <a:rPr sz="1250" b="0">
                <a:solidFill>
                  <a:srgbClr val="374151"/>
                </a:solidFill>
                <a:latin typeface="Calibri"/>
              </a:rPr>
              <a:t>Haiku 4.5를 서브에이전트로 활용, 코드 탐색·리서치 병렬 처리</a:t>
            </a:r>
          </a:p>
          <a:p>
            <a:r>
              <a:rPr sz="1250" b="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350" b="1">
                <a:solidFill>
                  <a:srgbClr val="111827"/>
                </a:solidFill>
                <a:latin typeface="Calibri"/>
              </a:rPr>
              <a:t>반복적 이터레이션</a:t>
            </a:r>
          </a:p>
          <a:p>
            <a:r>
              <a:rPr sz="1250" b="0">
                <a:solidFill>
                  <a:srgbClr val="374151"/>
                </a:solidFill>
                <a:latin typeface="Calibri"/>
              </a:rPr>
              <a:t>스크린샷 컨텍스트 제공, 시각적 피드백 기반 UI 개선</a:t>
            </a:r>
          </a:p>
          <a:p>
            <a:r>
              <a:rPr sz="1250" b="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350" b="1">
                <a:solidFill>
                  <a:srgbClr val="111827"/>
                </a:solidFill>
                <a:latin typeface="Calibri"/>
              </a:rPr>
              <a:t>데이터 소스 리서치</a:t>
            </a:r>
          </a:p>
          <a:p>
            <a:r>
              <a:rPr sz="1250" b="0">
                <a:solidFill>
                  <a:srgbClr val="374151"/>
                </a:solidFill>
                <a:latin typeface="Calibri"/>
              </a:rPr>
              <a:t>Web 검색을 통한 최적 API 및 데이터 소스 자동 탐색·통합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298448"/>
            <a:ext cx="5897880" cy="5230368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laudecode_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316736"/>
            <a:ext cx="5861304" cy="51937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Georgia"/>
              </a:rPr>
              <a:t>Data Flow &amp; Architecture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115568"/>
            <a:ext cx="11173968" cy="0"/>
          </a:xfrm>
          <a:prstGeom prst="ellipse">
            <a:avLst/>
          </a:prstGeom>
          <a:noFill/>
          <a:ln w="7620">
            <a:solidFill>
              <a:srgbClr val="C8C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35024"/>
            <a:ext cx="1737360" cy="365760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335024"/>
            <a:ext cx="1737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9343" y="142646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3B82F6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99616"/>
            <a:ext cx="1554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DATA
SOURCES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3" y="2157984"/>
            <a:ext cx="1408176" cy="22860"/>
          </a:xfrm>
          <a:prstGeom prst="rect">
            <a:avLst/>
          </a:prstGeom>
          <a:solidFill>
            <a:srgbClr val="252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67712"/>
            <a:ext cx="1554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9CA3AF"/>
                </a:solidFill>
                <a:latin typeface="Calibri"/>
              </a:rPr>
              <a:t>Yahoo Finance
FRED API
CNN F&amp;G
alternative.me
FINRA
Shiller/Yale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3703" y="2962656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96312" y="1335024"/>
            <a:ext cx="1737360" cy="365760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96312" y="1335024"/>
            <a:ext cx="1737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6744" y="142646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3B82F6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1499616"/>
            <a:ext cx="1554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COLLECTION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60904" y="2157984"/>
            <a:ext cx="1408176" cy="22860"/>
          </a:xfrm>
          <a:prstGeom prst="rect">
            <a:avLst/>
          </a:prstGeom>
          <a:solidFill>
            <a:srgbClr val="252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40" y="2267712"/>
            <a:ext cx="1554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9CA3AF"/>
                </a:solidFill>
                <a:latin typeface="Calibri"/>
              </a:rPr>
              <a:t>Python
update_data.py
scheduled via
GitHub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1104" y="2962656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3712" y="1335024"/>
            <a:ext cx="1737360" cy="365760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53712" y="1335024"/>
            <a:ext cx="1737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142646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3B82F6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1499616"/>
            <a:ext cx="1554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CACHE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18304" y="2157984"/>
            <a:ext cx="1408176" cy="22860"/>
          </a:xfrm>
          <a:prstGeom prst="rect">
            <a:avLst/>
          </a:prstGeom>
          <a:solidFill>
            <a:srgbClr val="252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2267712"/>
            <a:ext cx="1554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9CA3AF"/>
                </a:solidFill>
                <a:latin typeface="Calibri"/>
              </a:rPr>
              <a:t>Static JSON
files in /data/
locally stored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2962656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11112" y="1335024"/>
            <a:ext cx="1737360" cy="365760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11112" y="1335024"/>
            <a:ext cx="1737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81544" y="142646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3B82F6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1499616"/>
            <a:ext cx="1554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RENDERER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75704" y="2157984"/>
            <a:ext cx="1408176" cy="22860"/>
          </a:xfrm>
          <a:prstGeom prst="rect">
            <a:avLst/>
          </a:prstGeom>
          <a:solidFill>
            <a:srgbClr val="252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2267712"/>
            <a:ext cx="1554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9CA3AF"/>
                </a:solidFill>
                <a:latin typeface="Calibri"/>
              </a:rPr>
              <a:t>Apache ECharts
chart-factory.js
chart-configs.js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2962656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68512" y="1335024"/>
            <a:ext cx="1737360" cy="365760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668512" y="1335024"/>
            <a:ext cx="1737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38944" y="142646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3B82F6"/>
                </a:solidFill>
                <a:latin typeface="Calibr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1499616"/>
            <a:ext cx="1554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33104" y="2157984"/>
            <a:ext cx="1408176" cy="22860"/>
          </a:xfrm>
          <a:prstGeom prst="rect">
            <a:avLst/>
          </a:prstGeom>
          <a:solidFill>
            <a:srgbClr val="252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0" y="2267712"/>
            <a:ext cx="1554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9CA3AF"/>
                </a:solidFill>
                <a:latin typeface="Calibri"/>
              </a:rPr>
              <a:t>index.html
No server required
localhost:8080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193792"/>
            <a:ext cx="11173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B7280"/>
                </a:solidFill>
                <a:latin typeface="Calibri"/>
              </a:rPr>
              <a:t>GitHub Actions cron: 매시간 자동 업데이트  ·  로컬 실행: python -m http.server 8080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Calibri"/>
              </a:rPr>
              <a:t>INDICATOR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Georgia"/>
              </a:rPr>
              <a:t>40+ 거시경제 지표 통합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115568"/>
            <a:ext cx="11173968" cy="0"/>
          </a:xfrm>
          <a:prstGeom prst="ellipse">
            <a:avLst/>
          </a:prstGeom>
          <a:noFill/>
          <a:ln w="7620">
            <a:solidFill>
              <a:srgbClr val="C8C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35024"/>
            <a:ext cx="2788920" cy="2029968"/>
          </a:xfrm>
          <a:prstGeom prst="rect">
            <a:avLst/>
          </a:prstGeom>
          <a:solidFill>
            <a:srgbClr val="ED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35024"/>
            <a:ext cx="50292" cy="20299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11827"/>
                </a:solidFill>
                <a:latin typeface="Calibri"/>
              </a:rPr>
              <a:t>시장 (Market)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Calibri"/>
              </a:rPr>
              <a:t>S&amp;P 500 · NASDAQ · 다우존스 · VIX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335024"/>
            <a:ext cx="2788920" cy="2029968"/>
          </a:xfrm>
          <a:prstGeom prst="rect">
            <a:avLst/>
          </a:prstGeom>
          <a:solidFill>
            <a:srgbClr val="ED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128" y="1335024"/>
            <a:ext cx="50292" cy="20299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153619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11827"/>
                </a:solidFill>
                <a:latin typeface="Calibri"/>
              </a:rPr>
              <a:t>심리 (Sentiment)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1993391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Calibri"/>
              </a:rPr>
              <a:t>CNN Fear &amp; Greed (주식)
Crypto Fear &amp; Greed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1335024"/>
            <a:ext cx="2788920" cy="2029968"/>
          </a:xfrm>
          <a:prstGeom prst="rect">
            <a:avLst/>
          </a:prstGeom>
          <a:solidFill>
            <a:srgbClr val="ED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8776" y="1335024"/>
            <a:ext cx="50292" cy="20299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53619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11827"/>
                </a:solidFill>
                <a:latin typeface="Calibri"/>
              </a:rPr>
              <a:t>환율 (FX)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1993391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Calibri"/>
              </a:rPr>
              <a:t>USD/KRW · USD/JPY · KRW/JPY · EUR/USD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07424" y="1335024"/>
            <a:ext cx="2788920" cy="2029968"/>
          </a:xfrm>
          <a:prstGeom prst="rect">
            <a:avLst/>
          </a:prstGeom>
          <a:solidFill>
            <a:srgbClr val="ED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07424" y="1335024"/>
            <a:ext cx="50292" cy="20299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0303" y="153619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11827"/>
                </a:solidFill>
                <a:latin typeface="Calibri"/>
              </a:rPr>
              <a:t>원자재 (Commodities)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3" y="1993391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Calibri"/>
              </a:rPr>
              <a:t>금 · 은 · 구리 · WTI 원유 · 천연가스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529584"/>
            <a:ext cx="2788920" cy="2029968"/>
          </a:xfrm>
          <a:prstGeom prst="rect">
            <a:avLst/>
          </a:prstGeom>
          <a:solidFill>
            <a:srgbClr val="ED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529584"/>
            <a:ext cx="50292" cy="20299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73075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11827"/>
                </a:solidFill>
                <a:latin typeface="Calibri"/>
              </a:rPr>
              <a:t>금리 (Rates)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Calibri"/>
              </a:rPr>
              <a:t>연방기금금리 · 2Y/10Y/30Y 국채
장단기 스프레드 · HY OAS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529584"/>
            <a:ext cx="2788920" cy="2029968"/>
          </a:xfrm>
          <a:prstGeom prst="rect">
            <a:avLst/>
          </a:prstGeom>
          <a:solidFill>
            <a:srgbClr val="ED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10128" y="3529584"/>
            <a:ext cx="50292" cy="20299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93008" y="373075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11827"/>
                </a:solidFill>
                <a:latin typeface="Calibri"/>
              </a:rPr>
              <a:t>거시 (Macro)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93008" y="4187952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Calibri"/>
              </a:rPr>
              <a:t>GDP · 실업률 · NFP · CPI · PCE · M2 · 주택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08776" y="3529584"/>
            <a:ext cx="2788920" cy="2029968"/>
          </a:xfrm>
          <a:prstGeom prst="rect">
            <a:avLst/>
          </a:prstGeom>
          <a:solidFill>
            <a:srgbClr val="ED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08776" y="3529584"/>
            <a:ext cx="50292" cy="20299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1656" y="373075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11827"/>
                </a:solidFill>
                <a:latin typeface="Calibri"/>
              </a:rPr>
              <a:t>S&amp;P 비교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4187952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Calibri"/>
              </a:rPr>
              <a:t>vs VIX · vs 마진부채 · vs P/E · vs 금리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07424" y="3529584"/>
            <a:ext cx="2788920" cy="2029968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07424" y="3529584"/>
            <a:ext cx="50292" cy="20299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17151" y="3694176"/>
            <a:ext cx="2606039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  <a:latin typeface="Georgia"/>
              </a:rPr>
              <a:t>40+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7151" y="4608576"/>
            <a:ext cx="2606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9CA3AF"/>
                </a:solidFill>
                <a:latin typeface="Calibri"/>
              </a:rPr>
              <a:t>Macro Indicators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Calibri"/>
              </a:rPr>
              <a:t>DASHBOARD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Georgia"/>
              </a:rPr>
              <a:t>Live Dashboard — localhost:8080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115568"/>
            <a:ext cx="11173968" cy="0"/>
          </a:xfrm>
          <a:prstGeom prst="ellipse">
            <a:avLst/>
          </a:prstGeom>
          <a:noFill/>
          <a:ln w="7620">
            <a:solidFill>
              <a:srgbClr val="C8C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70432"/>
            <a:ext cx="5212080" cy="552297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42432" y="1170432"/>
            <a:ext cx="6236208" cy="2743200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shboard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188720"/>
            <a:ext cx="6199632" cy="270662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833872" y="4133087"/>
            <a:ext cx="41148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07608" y="40416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Dark Mode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7608" y="43434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Calibri"/>
              </a:rPr>
              <a:t>ECharts 기반 반응형 인터랙티브 차트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33872" y="4846320"/>
            <a:ext cx="41148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07608" y="4754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기간 필터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7608" y="505663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Calibri"/>
              </a:rPr>
              <a:t>1M · 3M · 6M · 1Y · 5Y · MAX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33872" y="5559552"/>
            <a:ext cx="41148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07608" y="54681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카테고리 네비게이션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7608" y="57698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Calibri"/>
              </a:rPr>
              <a:t>시장·심리·환율·원자재·금리·거시·비교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33872" y="6272783"/>
            <a:ext cx="41148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07608" y="618134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데이터 출처 링크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7608" y="648309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Calibri"/>
              </a:rPr>
              <a:t>각 차트에서 원본 데이터 소스 직접 접근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Georgia"/>
              </a:rPr>
              <a:t>Technical Implementation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115568"/>
            <a:ext cx="11173968" cy="0"/>
          </a:xfrm>
          <a:prstGeom prst="ellipse">
            <a:avLst/>
          </a:prstGeom>
          <a:noFill/>
          <a:ln w="7620">
            <a:solidFill>
              <a:srgbClr val="C8C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16736"/>
            <a:ext cx="3566160" cy="4572000"/>
          </a:xfrm>
          <a:prstGeom prst="rect">
            <a:avLst/>
          </a:prstGeom>
          <a:solidFill>
            <a:srgbClr val="ED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16736"/>
            <a:ext cx="3566160" cy="438912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16736"/>
            <a:ext cx="50292" cy="457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990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83664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83664"/>
            <a:ext cx="36576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947672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Calibri"/>
              </a:rPr>
              <a:t>HTML5 / CSS3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249424"/>
            <a:ext cx="3035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반응형 레이아웃, 다크 테마 CSS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889504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889504"/>
            <a:ext cx="36576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953512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Calibri"/>
              </a:rPr>
              <a:t>JavaScript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255264"/>
            <a:ext cx="3035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모듈형 구조, 동적 차트 렌더링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895344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895344"/>
            <a:ext cx="36576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959352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Calibri"/>
              </a:rPr>
              <a:t>Apache ECharts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261104"/>
            <a:ext cx="3035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인터랙티브 시계열 차트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901184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901184"/>
            <a:ext cx="36576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965192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Calibri"/>
              </a:rPr>
              <a:t>config.js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5266944"/>
            <a:ext cx="3035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지표·카테고리 전역 설정 관리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5112" y="1316736"/>
            <a:ext cx="3566160" cy="4572000"/>
          </a:xfrm>
          <a:prstGeom prst="rect">
            <a:avLst/>
          </a:prstGeom>
          <a:solidFill>
            <a:srgbClr val="ED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25112" y="1316736"/>
            <a:ext cx="3566160" cy="438912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25112" y="1316736"/>
            <a:ext cx="50292" cy="457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992" y="13990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Data Pipeline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07992" y="1883664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07992" y="1883664"/>
            <a:ext cx="36576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1947672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Calibri"/>
              </a:rPr>
              <a:t>Python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2249424"/>
            <a:ext cx="3035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update_data.py 업데이트 스크립트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07992" y="2889504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07992" y="2889504"/>
            <a:ext cx="36576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2953512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Calibri"/>
              </a:rPr>
              <a:t>yfinance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255264"/>
            <a:ext cx="3035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Yahoo Finance 시장·원자재 데이터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07992" y="3895344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07992" y="3895344"/>
            <a:ext cx="36576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0" y="3959352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Calibri"/>
              </a:rPr>
              <a:t>pandas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4261104"/>
            <a:ext cx="3035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시계열 정규화 및 JSON 변환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07992" y="4901184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07992" y="4901184"/>
            <a:ext cx="36576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0" y="4965192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Calibri"/>
              </a:rPr>
              <a:t>requests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5266944"/>
            <a:ext cx="3035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FRED API·CNN·FINRA HTTP 클라이언트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47304" y="1316736"/>
            <a:ext cx="3566160" cy="4572000"/>
          </a:xfrm>
          <a:prstGeom prst="rect">
            <a:avLst/>
          </a:prstGeom>
          <a:solidFill>
            <a:srgbClr val="ED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47304" y="1316736"/>
            <a:ext cx="3566160" cy="438912"/>
          </a:xfrm>
          <a:prstGeom prst="rect">
            <a:avLst/>
          </a:prstGeom>
          <a:solidFill>
            <a:srgbClr val="1C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47304" y="1316736"/>
            <a:ext cx="50292" cy="457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3" y="13990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Infrastructure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30183" y="1883664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330183" y="1883664"/>
            <a:ext cx="36576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85632" y="1947672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Calibri"/>
              </a:rPr>
              <a:t>Static JSON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85632" y="2249424"/>
            <a:ext cx="3035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서버 불필요 — 브라우저 직접 로드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30183" y="2889504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330183" y="2889504"/>
            <a:ext cx="36576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85632" y="2953512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Calibri"/>
              </a:rPr>
              <a:t>GitHub Actions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85632" y="3255264"/>
            <a:ext cx="3035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매시간 cron 자동 데이터 갱신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30183" y="3895344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330183" y="3895344"/>
            <a:ext cx="36576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85632" y="3959352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Calibri"/>
              </a:rPr>
              <a:t>GitHub Pages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85632" y="4261104"/>
            <a:ext cx="3035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무료 정적 호스팅 (글로벌 CDN)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30183" y="4901184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330183" y="4901184"/>
            <a:ext cx="36576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85632" y="4965192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Calibri"/>
              </a:rPr>
              <a:t>start.bat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85632" y="5266944"/>
            <a:ext cx="3035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로컬 실행: python -m http.server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Calibri"/>
              </a:rPr>
              <a:t>KEY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Georgia"/>
              </a:rPr>
              <a:t>Key Development Outcomes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115568"/>
            <a:ext cx="11173968" cy="0"/>
          </a:xfrm>
          <a:prstGeom prst="ellipse">
            <a:avLst/>
          </a:prstGeom>
          <a:noFill/>
          <a:ln w="7620">
            <a:solidFill>
              <a:srgbClr val="C8C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2487168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2487168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01368"/>
            <a:ext cx="23500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2563EB"/>
                </a:solidFill>
                <a:latin typeface="Georgia"/>
              </a:rPr>
              <a:t>40+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18688"/>
            <a:ext cx="23500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111827"/>
                </a:solidFill>
                <a:latin typeface="Calibri"/>
              </a:rPr>
              <a:t>거시경제 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67328"/>
            <a:ext cx="235000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Calibri"/>
              </a:rPr>
              <a:t>시장·심리·환율·원자재
금리·거시·S&amp;P 비교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1481328"/>
            <a:ext cx="2487168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0128" y="1481328"/>
            <a:ext cx="2487168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801368"/>
            <a:ext cx="23500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2563EB"/>
                </a:solidFill>
                <a:latin typeface="Georgia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3218688"/>
            <a:ext cx="23500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111827"/>
                </a:solidFill>
                <a:latin typeface="Calibri"/>
              </a:rPr>
              <a:t>데이터 소스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3767328"/>
            <a:ext cx="235000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Calibri"/>
              </a:rPr>
              <a:t>Yahoo Finance · FRED
CNN · FINRA · Shiller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08192" y="1481328"/>
            <a:ext cx="2487168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08192" y="1481328"/>
            <a:ext cx="2487168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1" y="1801368"/>
            <a:ext cx="23500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2563EB"/>
                </a:solidFill>
                <a:latin typeface="Georgia"/>
              </a:rPr>
              <a:t>1hr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1" y="3218688"/>
            <a:ext cx="23500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111827"/>
                </a:solidFill>
                <a:latin typeface="Calibri"/>
              </a:rPr>
              <a:t>자동 갱신 주기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1" y="3767328"/>
            <a:ext cx="235000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Calibri"/>
              </a:rPr>
              <a:t>GitHub Actions cron
무중단 데이터 파이프라인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6256" y="1481328"/>
            <a:ext cx="2487168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06256" y="1481328"/>
            <a:ext cx="2487168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97696" y="1801368"/>
            <a:ext cx="23500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2563EB"/>
                </a:solidFill>
                <a:latin typeface="Georgia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7696" y="3218688"/>
            <a:ext cx="23500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111827"/>
                </a:solidFill>
                <a:latin typeface="Calibri"/>
              </a:rPr>
              <a:t>서버 비용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7696" y="3767328"/>
            <a:ext cx="235000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Calibri"/>
              </a:rPr>
              <a:t>완전 정적 구조
GitHub Pages 무료 호스팅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0760" y="54864"/>
            <a:ext cx="6108192" cy="6803136"/>
          </a:xfrm>
          <a:prstGeom prst="rect">
            <a:avLst/>
          </a:prstGeom>
          <a:solidFill>
            <a:srgbClr val="ED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5257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11827"/>
                </a:solidFill>
                <a:latin typeface="Georgia"/>
              </a:rPr>
              <a:t>Claude Code로 만든
거시경제 대시보드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468880"/>
            <a:ext cx="4434840" cy="0"/>
          </a:xfrm>
          <a:prstGeom prst="ellipse">
            <a:avLst/>
          </a:prstGeom>
          <a:noFill/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834640"/>
            <a:ext cx="4572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724912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74151"/>
                </a:solidFill>
                <a:latin typeface="Calibri"/>
              </a:rPr>
              <a:t>자연어 지시만으로 전체 프론트엔드·데이터 파이프라인 구현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456432"/>
            <a:ext cx="4572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346704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74151"/>
                </a:solidFill>
                <a:latin typeface="Calibri"/>
              </a:rPr>
              <a:t>40개 이상의 지표를 단일 페이지에서 시각화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078224"/>
            <a:ext cx="4572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3968496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74151"/>
                </a:solidFill>
                <a:latin typeface="Calibri"/>
              </a:rPr>
              <a:t>GitHub Actions 기반 완전 자동화 데이터 갱신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700016"/>
            <a:ext cx="4572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4590288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74151"/>
                </a:solidFill>
                <a:latin typeface="Calibri"/>
              </a:rPr>
              <a:t>서버 비용 없이 GitHub Pages로 글로벌 배포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353312"/>
            <a:ext cx="53949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353312"/>
            <a:ext cx="45720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144475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Live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179222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jongh0.github.io/macro-dashboard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432304"/>
            <a:ext cx="53949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432304"/>
            <a:ext cx="45720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252374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Claude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287121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claude.ai/code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3511296"/>
            <a:ext cx="53949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3511296"/>
            <a:ext cx="45720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360273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FRED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39502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fred.stlouisfed.org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4590288"/>
            <a:ext cx="53949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4590288"/>
            <a:ext cx="45720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4681727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Yahoo Finance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5029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finance.yahoo.com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11173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9CA3AF"/>
                </a:solidFill>
                <a:latin typeface="Calibri"/>
              </a:rPr>
              <a:t>본 대시보드는 투자 조언이 아닙니다  ·  For informational purposes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